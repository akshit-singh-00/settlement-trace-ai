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2e6ccfa9bb44f2" /><Relationship Type="http://schemas.openxmlformats.org/officeDocument/2006/relationships/extended-properties" Target="/docProps/app.xml" Id="R95ec5aeef476453b" /><Relationship Type="http://schemas.openxmlformats.org/officeDocument/2006/relationships/officeDocument" Target="/ppt/presentation.xml" Id="R4db1a45627334d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378ac8089b4853"/>
  </p:sldMasterIdLst>
  <p:notesMasterIdLst>
    <p:notesMasterId xmlns:r="http://schemas.openxmlformats.org/officeDocument/2006/relationships" r:id="R555905ea98ae4aa2"/>
  </p:notesMasterIdLst>
  <p:sldIdLst>
    <p:sldId xmlns:r="http://schemas.openxmlformats.org/officeDocument/2006/relationships" id="256" r:id="R92f8b2b5d4aa4d9f"/>
    <p:sldId xmlns:r="http://schemas.openxmlformats.org/officeDocument/2006/relationships" id="257" r:id="Ra2152979681a4b76"/>
    <p:sldId xmlns:r="http://schemas.openxmlformats.org/officeDocument/2006/relationships" id="258" r:id="Rd0c3f3610b544bc9"/>
    <p:sldId xmlns:r="http://schemas.openxmlformats.org/officeDocument/2006/relationships" id="259" r:id="R8de2b34d25ee4f5c"/>
    <p:sldId xmlns:r="http://schemas.openxmlformats.org/officeDocument/2006/relationships" id="260" r:id="Rcc5cc7eb1a0b4c02"/>
    <p:sldId xmlns:r="http://schemas.openxmlformats.org/officeDocument/2006/relationships" id="261" r:id="Rd3ec5c67c21444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6bb322ef3740f8" /><Relationship Type="http://schemas.openxmlformats.org/officeDocument/2006/relationships/slideMaster" Target="/ppt/slideMasters/slideMaster1.xml" Id="R47378ac8089b4853" /><Relationship Type="http://schemas.openxmlformats.org/officeDocument/2006/relationships/notesMaster" Target="/ppt/notesMasters/notesMaster1.xml" Id="R555905ea98ae4aa2" /><Relationship Type="http://schemas.openxmlformats.org/officeDocument/2006/relationships/presProps" Target="/ppt/presProps.xml" Id="Rfacae54e81a44d78" /><Relationship Type="http://schemas.openxmlformats.org/officeDocument/2006/relationships/tableStyles" Target="/ppt/tableStyles.xml" Id="R8f85627c54be40f6" /><Relationship Type="http://schemas.openxmlformats.org/officeDocument/2006/relationships/slide" Target="/ppt/slides/slide1.xml" Id="R92f8b2b5d4aa4d9f" /><Relationship Type="http://schemas.openxmlformats.org/officeDocument/2006/relationships/slide" Target="/ppt/slides/slide2.xml" Id="Ra2152979681a4b76" /><Relationship Type="http://schemas.openxmlformats.org/officeDocument/2006/relationships/slide" Target="/ppt/slides/slide3.xml" Id="Rd0c3f3610b544bc9" /><Relationship Type="http://schemas.openxmlformats.org/officeDocument/2006/relationships/slide" Target="/ppt/slides/slide4.xml" Id="R8de2b34d25ee4f5c" /><Relationship Type="http://schemas.openxmlformats.org/officeDocument/2006/relationships/slide" Target="/ppt/slides/slide5.xml" Id="Rcc5cc7eb1a0b4c02" /><Relationship Type="http://schemas.openxmlformats.org/officeDocument/2006/relationships/slide" Target="/ppt/slides/slide6.xml" Id="Rd3ec5c67c21444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36b780a7fa4a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71e9360dd246bf" /><Relationship Type="http://schemas.openxmlformats.org/officeDocument/2006/relationships/notesMaster" Target="/ppt/notesMasters/notesMaster1.xml" Id="R7aeb19aaaa844f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1aba46997547b6" /><Relationship Type="http://schemas.openxmlformats.org/officeDocument/2006/relationships/notesMaster" Target="/ppt/notesMasters/notesMaster1.xml" Id="Re62fe4473e3948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271446ee3240be" /><Relationship Type="http://schemas.openxmlformats.org/officeDocument/2006/relationships/notesMaster" Target="/ppt/notesMasters/notesMaster1.xml" Id="R9b7ddf3e829946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29f38a20e546c5" /><Relationship Type="http://schemas.openxmlformats.org/officeDocument/2006/relationships/notesMaster" Target="/ppt/notesMasters/notesMaster1.xml" Id="R3f5ddc7de19c4b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77456515b74482" /><Relationship Type="http://schemas.openxmlformats.org/officeDocument/2006/relationships/notesMaster" Target="/ppt/notesMasters/notesMaster1.xml" Id="Rf2b2cff646184e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69017d95af4b2c" /><Relationship Type="http://schemas.openxmlformats.org/officeDocument/2006/relationships/notesMaster" Target="/ppt/notesMasters/notesMaster1.xml" Id="R90048e0217424e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merchant support teams need a fast, defensible answer to a simple question: where did the money stop? All records in this demonstration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investigation spans four record systems. The application follows the same sequence and identifies the first stage that is missing, delayed, failed or inconsistent.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Example TXN-1048: the gateway captured the payment, but no matching settlement exists after the expected cutoff. The engine returns a delayed status at the settlement stage with 96 percent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current transaction, the timeline and the evidence tabs. Clicking a 3D stage opens the same underlying evidence. The product keeps missing data visible and supports a downloadable structured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Chart values are derived from the eleven bundled demo cases: one successful, two pending, two delayed, one failed, three mismatches and two uncertain. The release passed 15 unit tests, TypeScript checking, linting and the production build.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product's core value: a support agent can locate the settlement break, explain it from auditable evidence and avoid false certainty when records conflict.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26c87178244b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dff242c8fa4d89" /><Relationship Type="http://schemas.openxmlformats.org/officeDocument/2006/relationships/slideLayout" Target="/ppt/slideLayouts/slideLayout1.xml" Id="R991b083c3bca4a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1b083c3bca4a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873d1672c4ba2" /><Relationship Type="http://schemas.openxmlformats.org/officeDocument/2006/relationships/image" Target="/ppt/media/image.png" Id="Rc34f768ea643412c" /><Relationship Type="http://schemas.openxmlformats.org/officeDocument/2006/relationships/notesSlide" Target="/ppt/notesSlides/notesSlide1.xml" Id="Ra8e9c73404ad4e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910a1eef94d31" /><Relationship Type="http://schemas.openxmlformats.org/officeDocument/2006/relationships/notesSlide" Target="/ppt/notesSlides/notesSlide2.xml" Id="R7b6d3e92460148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2ae9b783b4a2e" /><Relationship Type="http://schemas.openxmlformats.org/officeDocument/2006/relationships/notesSlide" Target="/ppt/notesSlides/notesSlide3.xml" Id="R1ca315f0cb1649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46acf7c114510" /><Relationship Type="http://schemas.openxmlformats.org/officeDocument/2006/relationships/image" Target="/ppt/media/image2.png" Id="R80732ae80fa6475f" /><Relationship Type="http://schemas.openxmlformats.org/officeDocument/2006/relationships/notesSlide" Target="/ppt/notesSlides/notesSlide4.xml" Id="R916167ea25cb41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e54b243e84aee" /><Relationship Type="http://schemas.openxmlformats.org/officeDocument/2006/relationships/chart" Target="/ppt/slides/charts/chart1.xml" Id="R6953276c71b748f8" /><Relationship Type="http://schemas.openxmlformats.org/officeDocument/2006/relationships/notesSlide" Target="/ppt/notesSlides/notesSlide5.xml" Id="Rfee34e01261d41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84bb6b3514cba" /><Relationship Type="http://schemas.openxmlformats.org/officeDocument/2006/relationships/notesSlide" Target="/ppt/notesSlides/notesSlide6.xml" Id="Rc40ba312efda4c0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Demo cases</c:v>
          </c:tx>
          <c:spPr>
            <a:solidFill xmlns:a="http://schemas.openxmlformats.org/drawingml/2006/main">
              <a:srgbClr val="65E7F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48E9B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65E7F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FFB75E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FF6078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C987FF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60758A"/>
              </a:solidFill>
            </c:spPr>
          </c:dPt>
          <c:cat>
            <c:strLit>
              <c:ptCount val="6"/>
              <c:pt idx="0">
                <c:v>Successful</c:v>
              </c:pt>
              <c:pt idx="1">
                <c:v>Pending</c:v>
              </c:pt>
              <c:pt idx="2">
                <c:v>Delayed</c:v>
              </c:pt>
              <c:pt idx="3">
                <c:v>Failed</c:v>
              </c:pt>
              <c:pt idx="4">
                <c:v>Mismatch</c:v>
              </c:pt>
              <c:pt idx="5">
                <c:v>Uncertain</c:v>
              </c:pt>
            </c:strLit>
          </c:cat>
          <c:val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2</c:v>
              </c:pt>
              <c:pt idx="3">
                <c:v>1</c:v>
              </c:pt>
              <c:pt idx="4">
                <c:v>3</c:v>
              </c:pt>
              <c:pt idx="5">
                <c:v>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F3F8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8384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3F8FF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30914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30914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3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4f768ea643412c"/>
          <a:srcRect xmlns:a="http://schemas.openxmlformats.org/drawingml/2006/main" l="0" t="61" r="0" b="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10200" y="876300"/>
            <a:ext cx="6286500" cy="3924300"/>
          </a:xfrm>
          <a:prstGeom xmlns:a="http://schemas.openxmlformats.org/drawingml/2006/main" prst="roundRect">
            <a:avLst>
              <a:gd name="adj" fmla="val 3883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1FAA5-CD77-4AC6-BD75-EF339103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4381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3F8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3F8FF"/>
                </a:solidFill>
                <a:latin typeface="Arial"/>
                <a:ea typeface="Arial"/>
                <a:cs typeface="Arial"/>
              </a:rPr>
              <a:t>Settlement</a:t>
            </a:r>
          </a:p>
          <a:p xmlns:a="http://schemas.openxmlformats.org/drawingml/2006/main">
            <a:pPr algn="l">
              <a:defRPr sz="4800" b="1">
                <a:solidFill>
                  <a:srgbClr val="F3F8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3F8FF"/>
                </a:solidFill>
                <a:latin typeface="Arial"/>
                <a:ea typeface="Arial"/>
                <a:cs typeface="Arial"/>
              </a:rPr>
              <a:t>Trace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F02ED-C0D6-4AB7-8A28-EFF9A4BA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2420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E7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E7FF"/>
                </a:solidFill>
                <a:latin typeface="Arial"/>
                <a:ea typeface="Arial"/>
                <a:cs typeface="Arial"/>
              </a:rPr>
              <a:t>Evidence-based answers for settlement failures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87315-6601-4D89-8AC1-CD177F12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CB0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CB0C5"/>
                </a:solidFill>
                <a:latin typeface="Arial"/>
                <a:ea typeface="Arial"/>
                <a:cs typeface="Arial"/>
              </a:rPr>
              <a:t>Trace a payment across the gateway, settlement batch, bank record and merchant ledger.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3FA2C-478B-4989-B326-947C2A4E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5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58A"/>
                </a:solidFill>
                <a:latin typeface="Arial"/>
                <a:ea typeface="Arial"/>
                <a:cs typeface="Arial"/>
              </a:rPr>
              <a:t>Origin Hackathon  /  Product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C6FE2-AFDC-4CF9-90E7-1FD01576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054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B7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75E"/>
                </a:solidFill>
                <a:latin typeface="Arial"/>
                <a:ea typeface="Arial"/>
                <a:cs typeface="Arial"/>
              </a:rPr>
              <a:t>SIMULATED DATA ONLY</a:t>
            </a:r>
          </a:p>
        </p:txBody>
      </p:sp>
    </p:spTree>
    <p:extLst>
      <p:ext uri="{BB962C8B-B14F-4D97-AF65-F5344CB8AC3E}">
        <p14:creationId xmlns:p14="http://schemas.microsoft.com/office/powerpoint/2010/main" val="6177626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3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825613-A29B-45CE-ABAC-B6315B87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8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3F8FF"/>
                </a:solidFill>
                <a:latin typeface="Arial"/>
                <a:ea typeface="Arial"/>
                <a:cs typeface="Arial"/>
              </a:rPr>
              <a:t>The settlement investigation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CFD7C-4027-495E-9B45-635EACB8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57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075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58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FF277-8E15-42AE-AFEB-CF9D779B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3F8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3F8FF"/>
                </a:solidFill>
                <a:latin typeface="Arial"/>
                <a:ea typeface="Arial"/>
                <a:cs typeface="Arial"/>
              </a:rPr>
              <a:t>A captured payment can pass through four systems before a merchant sees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E827C-A8B8-4558-8FAE-E4E228BD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00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CB0C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CB0C5"/>
                </a:solidFill>
                <a:latin typeface="Arial"/>
                <a:ea typeface="Arial"/>
                <a:cs typeface="Arial"/>
              </a:rPr>
              <a:t>Support teams compare timestamps, amounts, references and statuses across disconnected records. Missing or conflicting evidence turns a routine ticket into a manual audit.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FA6F3-D0F0-4D17-982C-3086D094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8288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91724"/>
          </a:solidFill>
          <a:ln xmlns:a="http://schemas.openxmlformats.org/drawingml/2006/main" w="19050">
            <a:solidFill>
              <a:srgbClr val="48E9B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6709B-3F84-459B-8FBA-4DFBEECA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F8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8FF"/>
                </a:solidFill>
                <a:latin typeface="Arial"/>
                <a:ea typeface="Arial"/>
                <a:cs typeface="Arial"/>
              </a:rPr>
              <a:t>Gateway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233813-86E3-4C87-A202-3205ED96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E9B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E9B0"/>
                </a:solidFill>
                <a:latin typeface="Arial"/>
                <a:ea typeface="Arial"/>
                <a:cs typeface="Arial"/>
              </a:rPr>
              <a:t>Payment captured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B5098F-6425-4A2F-ADF8-BB106173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48000"/>
            <a:ext cx="18288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91724"/>
          </a:solidFill>
          <a:ln xmlns:a="http://schemas.openxmlformats.org/drawingml/2006/main" w="19050">
            <a:solidFill>
              <a:srgbClr val="65E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A430E-214A-4714-A818-ADC015C2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766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F8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8FF"/>
                </a:solidFill>
                <a:latin typeface="Arial"/>
                <a:ea typeface="Arial"/>
                <a:cs typeface="Arial"/>
              </a:rPr>
              <a:t>Settlement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92550F-BADC-4957-B3C5-E7B8A7BE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9570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E7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E7FF"/>
                </a:solidFill>
                <a:latin typeface="Arial"/>
                <a:ea typeface="Arial"/>
                <a:cs typeface="Arial"/>
              </a:rPr>
              <a:t>Batch and processing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976590-9112-4157-A56C-734C2D8D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48000"/>
            <a:ext cx="18288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91724"/>
          </a:solidFill>
          <a:ln xmlns:a="http://schemas.openxmlformats.org/drawingml/2006/main" w="19050">
            <a:solidFill>
              <a:srgbClr val="FFB75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DA82E-47EA-4460-9C14-057BFC43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766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F8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8FF"/>
                </a:solidFill>
                <a:latin typeface="Arial"/>
                <a:ea typeface="Arial"/>
                <a:cs typeface="Arial"/>
              </a:rPr>
              <a:t>Bank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C9C42D-E090-4741-951E-5105B0E7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9570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B75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B75E"/>
                </a:solidFill>
                <a:latin typeface="Arial"/>
                <a:ea typeface="Arial"/>
                <a:cs typeface="Arial"/>
              </a:rPr>
              <a:t>Credit and UTR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8D43C3-DA52-4200-9510-97854A00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48000"/>
            <a:ext cx="18288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91724"/>
          </a:solidFill>
          <a:ln xmlns:a="http://schemas.openxmlformats.org/drawingml/2006/main" w="19050">
            <a:solidFill>
              <a:srgbClr val="6075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40E5AE-28A5-432D-A102-7C8BD26F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766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F8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8FF"/>
                </a:solidFill>
                <a:latin typeface="Arial"/>
                <a:ea typeface="Arial"/>
                <a:cs typeface="Arial"/>
              </a:rPr>
              <a:t>Ledger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0D467B-4E20-4EB5-B302-F65FFEE6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9570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5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58A"/>
                </a:solidFill>
                <a:latin typeface="Arial"/>
                <a:ea typeface="Arial"/>
                <a:cs typeface="Arial"/>
              </a:rPr>
              <a:t>Merchant posting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438400" y="3676650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8384B"/>
            </a:solidFill>
            <a:prstDash val="solid"/>
            <a:tailEnd type="arrow" w="sm" len="sm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105400" y="3676650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8384B"/>
            </a:solidFill>
            <a:prstDash val="solid"/>
            <a:tailEnd type="arrow" w="sm" len="sm"/>
          </a:ln>
        </p:spPr>
      </p:cxnSp>
      <p:cxnSp>
        <p:nvCxnSpPr>
          <p:cNvPr id="40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772400" y="3676650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8384B"/>
            </a:solidFill>
            <a:prstDash val="solid"/>
            <a:tailEnd type="arrow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61ED4C-6C22-45E2-9FE7-02962BCA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E7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5E7FF"/>
                </a:solidFill>
                <a:latin typeface="Arial"/>
                <a:ea typeface="Arial"/>
                <a:cs typeface="Arial"/>
              </a:rPr>
              <a:t>The operational question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FFC04B-06F5-4ADA-88B6-6FB6BC3E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3F8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F"/>
                </a:solidFill>
                <a:latin typeface="Arial"/>
                <a:ea typeface="Arial"/>
                <a:cs typeface="Arial"/>
              </a:rPr>
              <a:t>Where is the first broken link, and what evidence proves it?</a:t>
            </a:r>
          </a:p>
        </p:txBody>
      </p:sp>
    </p:spTree>
    <p:extLst>
      <p:ext uri="{BB962C8B-B14F-4D97-AF65-F5344CB8AC3E}">
        <p14:creationId xmlns:p14="http://schemas.microsoft.com/office/powerpoint/2010/main" val="10057219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3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6299F7-67E0-455C-AE1C-7DDE13FD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8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3F8FF"/>
                </a:solidFill>
                <a:latin typeface="Arial"/>
                <a:ea typeface="Arial"/>
                <a:cs typeface="Arial"/>
              </a:rPr>
              <a:t>Deterministic reconciliation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E3B33-633E-44C1-B9E8-6A87CBC4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57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075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58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B473B-F566-43F5-A32D-21876BAA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9CB0C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9CB0C5"/>
                </a:solidFill>
                <a:latin typeface="Arial"/>
                <a:ea typeface="Arial"/>
                <a:cs typeface="Arial"/>
              </a:rPr>
              <a:t>The engine produces the same answer from the same records. It does not ask a language model to invent transaction facts.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D17B76-1C8D-4FA8-AB9B-F4CA76E9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E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5E7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9BD02-C1AC-45D0-8F6B-DAC1FFC3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574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8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8FF"/>
                </a:solidFill>
                <a:latin typeface="Arial"/>
                <a:ea typeface="Arial"/>
                <a:cs typeface="Arial"/>
              </a:rPr>
              <a:t>Extract the 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017CC-DE29-44B8-8C28-49D40D77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03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B0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CB0C5"/>
                </a:solidFill>
                <a:latin typeface="Arial"/>
                <a:ea typeface="Arial"/>
                <a:cs typeface="Arial"/>
              </a:rPr>
              <a:t>Normalize a TXN reference from any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EE97E-9205-4299-8D98-313E08E3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E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5E7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3F49F-DE31-45CF-8846-77009E93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956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8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8FF"/>
                </a:solidFill>
                <a:latin typeface="Arial"/>
                <a:ea typeface="Arial"/>
                <a:cs typeface="Arial"/>
              </a:rPr>
              <a:t>Join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856F76-90AD-42AA-A4F0-B014141F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85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B0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CB0C5"/>
                </a:solidFill>
                <a:latin typeface="Arial"/>
                <a:ea typeface="Arial"/>
                <a:cs typeface="Arial"/>
              </a:rPr>
              <a:t>Match gateway, settlement, bank and ledger 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B4897-4069-444E-AD84-A63639E6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E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5E7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FA88A5-BFF3-4257-8FB0-3BA7FCB9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8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8FF"/>
                </a:solidFill>
                <a:latin typeface="Arial"/>
                <a:ea typeface="Arial"/>
                <a:cs typeface="Arial"/>
              </a:rPr>
              <a:t>Test consistency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5E20D4-14E2-4152-AE03-66377A0B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B0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CB0C5"/>
                </a:solidFill>
                <a:latin typeface="Arial"/>
                <a:ea typeface="Arial"/>
                <a:cs typeface="Arial"/>
              </a:rPr>
              <a:t>Compare status, amount, UTR, timing and duplicate records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E60C2-EA6F-433E-B9B9-3AC2B747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E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5E7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0FD7B6-DD79-416D-A9E8-2549C6BA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720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8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8FF"/>
                </a:solidFill>
                <a:latin typeface="Arial"/>
                <a:ea typeface="Arial"/>
                <a:cs typeface="Arial"/>
              </a:rPr>
              <a:t>Locate the break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13391B-6CEF-4284-8A89-EB387F81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149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B0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CB0C5"/>
                </a:solidFill>
                <a:latin typeface="Arial"/>
                <a:ea typeface="Arial"/>
                <a:cs typeface="Arial"/>
              </a:rPr>
              <a:t>Return the earliest confirmed failure or missing stage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1AB79B-9DB7-4793-BEBC-87AE583E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E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5E7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BE04F1-F19B-49BE-B7D6-A27E4C74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102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8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8FF"/>
                </a:solidFill>
                <a:latin typeface="Arial"/>
                <a:ea typeface="Arial"/>
                <a:cs typeface="Arial"/>
              </a:rPr>
              <a:t>Explain the 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68278B-AD09-477B-A656-12BB3550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531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B0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CB0C5"/>
                </a:solidFill>
                <a:latin typeface="Arial"/>
                <a:ea typeface="Arial"/>
                <a:cs typeface="Arial"/>
              </a:rPr>
              <a:t>Calculate confidence, SLA impact and next support step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7F6C5E-5A55-4CD4-AC01-3E0ACA74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52650"/>
            <a:ext cx="4838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91724"/>
          </a:solidFill>
          <a:ln xmlns:a="http://schemas.openxmlformats.org/drawingml/2006/main" w="19050">
            <a:solidFill>
              <a:srgbClr val="1838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2758BE-563C-4628-B445-540011F7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193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5E7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5E7FF"/>
                </a:solidFill>
                <a:latin typeface="Arial"/>
                <a:ea typeface="Arial"/>
                <a:cs typeface="Arial"/>
              </a:rPr>
              <a:t>TXN-1048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3D78D2-2075-44DA-9DD1-73CF9C13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57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8E9B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8E9B0"/>
                </a:solidFill>
                <a:latin typeface="Arial"/>
                <a:ea typeface="Arial"/>
                <a:cs typeface="Arial"/>
              </a:rPr>
              <a:t>96% confidence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1E6292-DB42-488A-93B5-7C1CF06F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09900"/>
            <a:ext cx="400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B75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B75E"/>
                </a:solidFill>
                <a:latin typeface="Arial"/>
                <a:ea typeface="Arial"/>
                <a:cs typeface="Arial"/>
              </a:rPr>
              <a:t>Captured payment is missing</a:t>
            </a:r>
          </a:p>
          <a:p xmlns:a="http://schemas.openxmlformats.org/drawingml/2006/main">
            <a:pPr algn="l">
              <a:defRPr sz="2250" b="1">
                <a:solidFill>
                  <a:srgbClr val="FFB75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B75E"/>
                </a:solidFill>
                <a:latin typeface="Arial"/>
                <a:ea typeface="Arial"/>
                <a:cs typeface="Arial"/>
              </a:rPr>
              <a:t>from a settlement batch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619ADD-6863-46C2-B6BF-59B300F7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148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5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58A"/>
                </a:solidFill>
                <a:latin typeface="Arial"/>
                <a:ea typeface="Arial"/>
                <a:cs typeface="Arial"/>
              </a:rPr>
              <a:t>First break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A582D6-7AC0-4A4F-ACFE-596ACE4F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8FF"/>
                </a:solidFill>
                <a:latin typeface="Arial"/>
                <a:ea typeface="Arial"/>
                <a:cs typeface="Arial"/>
              </a:rPr>
              <a:t>Settlement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30453F-7A17-46BE-9E79-3ED2FBB7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14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5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58A"/>
                </a:solidFill>
                <a:latin typeface="Arial"/>
                <a:ea typeface="Arial"/>
                <a:cs typeface="Arial"/>
              </a:rPr>
              <a:t>Next action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04F758-A6D7-4F0A-A891-157176CE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386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F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8FF"/>
                </a:solidFill>
                <a:latin typeface="Arial"/>
                <a:ea typeface="Arial"/>
                <a:cs typeface="Arial"/>
              </a:rPr>
              <a:t>Escalate to settlement operations</a:t>
            </a:r>
          </a:p>
        </p:txBody>
      </p:sp>
    </p:spTree>
    <p:extLst>
      <p:ext uri="{BB962C8B-B14F-4D97-AF65-F5344CB8AC3E}">
        <p14:creationId xmlns:p14="http://schemas.microsoft.com/office/powerpoint/2010/main" val="362893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3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947C14-0065-4641-9CAD-42DC5CA3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8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3F8FF"/>
                </a:solidFill>
                <a:latin typeface="Arial"/>
                <a:ea typeface="Arial"/>
                <a:cs typeface="Arial"/>
              </a:rPr>
              <a:t>Investigation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7A2299-44D7-4D9E-8811-241CB01E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57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075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58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732ae80fa6475f"/>
          <a:srcRect xmlns:a="http://schemas.openxmlformats.org/drawingml/2006/main" l="0" t="39940" r="0" b="399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162050"/>
            <a:ext cx="6953250" cy="4857750"/>
          </a:xfrm>
          <a:prstGeom xmlns:a="http://schemas.openxmlformats.org/drawingml/2006/main" prst="roundRect">
            <a:avLst>
              <a:gd name="adj" fmla="val 313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1C8F3-B468-4F4B-8E0E-8AD4B1F7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314450"/>
            <a:ext cx="335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F8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3F8FF"/>
                </a:solidFill>
                <a:latin typeface="Arial"/>
                <a:ea typeface="Arial"/>
                <a:cs typeface="Arial"/>
              </a:rPr>
              <a:t>One result model powers every 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6F7A6-DBCA-41DB-90F3-43EC0113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5E7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5E7FF"/>
                </a:solidFill>
                <a:latin typeface="Arial"/>
                <a:ea typeface="Arial"/>
                <a:cs typeface="Arial"/>
              </a:rPr>
              <a:t>3D 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EDDA3F-80F4-4953-A4A2-EB9B0105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908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B0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CB0C5"/>
                </a:solidFill>
                <a:latin typeface="Arial"/>
                <a:ea typeface="Arial"/>
                <a:cs typeface="Arial"/>
              </a:rPr>
              <a:t>Completed, pending and broken stages share the engine 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432F3F-866C-4866-8692-1862ABC0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5E7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5E7FF"/>
                </a:solidFill>
                <a:latin typeface="Arial"/>
                <a:ea typeface="Arial"/>
                <a:cs typeface="Arial"/>
              </a:rPr>
              <a:t>Five-event timeline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163F3E-528A-460B-9FED-4C4B1D45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909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B0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CB0C5"/>
                </a:solidFill>
                <a:latin typeface="Arial"/>
                <a:ea typeface="Arial"/>
                <a:cs typeface="Arial"/>
              </a:rPr>
              <a:t>Every timestamp and latency comes from source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7D9DF-BAC0-48D3-8520-0F254946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67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5E7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5E7FF"/>
                </a:solidFill>
                <a:latin typeface="Arial"/>
                <a:ea typeface="Arial"/>
                <a:cs typeface="Arial"/>
              </a:rPr>
              <a:t>Evidence inspector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EF831A-27FE-4932-B122-24CAC6ED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910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B0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CB0C5"/>
                </a:solidFill>
                <a:latin typeface="Arial"/>
                <a:ea typeface="Arial"/>
                <a:cs typeface="Arial"/>
              </a:rPr>
              <a:t>Missing and conflicting fields stay visible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E64CC5-DD3D-43A8-8B5A-6A935630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67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5E7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5E7FF"/>
                </a:solidFill>
                <a:latin typeface="Arial"/>
                <a:ea typeface="Arial"/>
                <a:cs typeface="Arial"/>
              </a:rPr>
              <a:t>Uncertainty handling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5CE7F1-72B7-4446-A262-BD8FD9CE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911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B0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CB0C5"/>
                </a:solidFill>
                <a:latin typeface="Arial"/>
                <a:ea typeface="Arial"/>
                <a:cs typeface="Arial"/>
              </a:rPr>
              <a:t>Low confidence triggers an explicit exception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B4A849-027D-4E8B-B9B0-5EEF93F1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4673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5E7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5E7FF"/>
                </a:solidFill>
                <a:latin typeface="Arial"/>
                <a:ea typeface="Arial"/>
                <a:cs typeface="Arial"/>
              </a:rPr>
              <a:t>Investigation report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F508C0-E20C-4528-B98B-8D9116F7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7912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B0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CB0C5"/>
                </a:solidFill>
                <a:latin typeface="Arial"/>
                <a:ea typeface="Arial"/>
                <a:cs typeface="Arial"/>
              </a:rPr>
              <a:t>Print or download the structured result</a:t>
            </a:r>
          </a:p>
        </p:txBody>
      </p:sp>
    </p:spTree>
    <p:extLst>
      <p:ext uri="{BB962C8B-B14F-4D97-AF65-F5344CB8AC3E}">
        <p14:creationId xmlns:p14="http://schemas.microsoft.com/office/powerpoint/2010/main" val="7022704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3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67595E-EF6F-478C-BF48-209720B8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8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3F8FF"/>
                </a:solidFill>
                <a:latin typeface="Arial"/>
                <a:ea typeface="Arial"/>
                <a:cs typeface="Arial"/>
              </a:rPr>
              <a:t>Scenario coverage and release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98423C-8303-4C19-B56E-DA29C6DA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57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075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58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F4879-8A24-4F74-8F79-3EE9BA28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9CB0C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CB0C5"/>
                </a:solidFill>
                <a:latin typeface="Arial"/>
                <a:ea typeface="Arial"/>
                <a:cs typeface="Arial"/>
              </a:rPr>
              <a:t>Eleven synthetic cases cover clean settlement, delays, failures, mismatches and incomplete evidence.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52450" y="1943100"/>
          <a:ext xmlns:a="http://schemas.openxmlformats.org/drawingml/2006/main" cx="6858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53276c71b748f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177433-8FAB-4DBD-BA18-22497F7D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95500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48E9B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48E9B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D4153-1B88-4969-A9F2-925D4CCC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8FF"/>
                </a:solidFill>
                <a:latin typeface="Arial"/>
                <a:ea typeface="Arial"/>
                <a:cs typeface="Arial"/>
              </a:rPr>
              <a:t>tests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6F7825-1C50-46AE-B47E-930E8EA0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195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5E7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5E7FF"/>
                </a:solidFill>
                <a:latin typeface="Arial"/>
                <a:ea typeface="Arial"/>
                <a:cs typeface="Arial"/>
              </a:rPr>
              <a:t>TypeScript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EC7FC-A2AE-4573-B3F3-06EA2ED1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624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B0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0C5"/>
                </a:solidFill>
                <a:latin typeface="Arial"/>
                <a:ea typeface="Arial"/>
                <a:cs typeface="Arial"/>
              </a:rPr>
              <a:t>No type errors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873BE9-C9AE-44DB-B69A-A8F82F85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52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5E7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5E7FF"/>
                </a:solidFill>
                <a:latin typeface="Arial"/>
                <a:ea typeface="Arial"/>
                <a:cs typeface="Arial"/>
              </a:rPr>
              <a:t>Production build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1F426F-A23E-4613-A5A8-E7DF0631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9585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B0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0C5"/>
                </a:solidFill>
                <a:latin typeface="Arial"/>
                <a:ea typeface="Arial"/>
                <a:cs typeface="Arial"/>
              </a:rPr>
              <a:t>Cloudflare-compatible release validated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ED5C8C-43BA-476D-97E9-CF940311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B75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B75E"/>
                </a:solidFill>
                <a:latin typeface="Arial"/>
                <a:ea typeface="Arial"/>
                <a:cs typeface="Arial"/>
              </a:rPr>
              <a:t>All records and amounts are simulated.</a:t>
            </a:r>
          </a:p>
        </p:txBody>
      </p:sp>
    </p:spTree>
    <p:extLst>
      <p:ext uri="{BB962C8B-B14F-4D97-AF65-F5344CB8AC3E}">
        <p14:creationId xmlns:p14="http://schemas.microsoft.com/office/powerpoint/2010/main" val="424963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3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0904CA-BD3B-457F-83EB-B7909CCA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8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3F8FF"/>
                </a:solidFill>
                <a:latin typeface="Arial"/>
                <a:ea typeface="Arial"/>
                <a:cs typeface="Arial"/>
              </a:rPr>
              <a:t>Judge demo in 90 seconds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24E18-DB15-4AB6-BC0C-2DFD8C72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57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075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58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09210-D9FD-414A-BEE7-0A01B0D2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E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5E7FF"/>
                </a:solidFill>
                <a:latin typeface="Arial"/>
                <a:ea typeface="Arial"/>
                <a:cs typeface="Arial"/>
              </a:rPr>
              <a:t>00:00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C615D-6A62-42CD-99EA-1860CE06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3716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3F8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3F8FF"/>
                </a:solidFill>
                <a:latin typeface="Arial"/>
                <a:ea typeface="Arial"/>
                <a:cs typeface="Arial"/>
              </a:rPr>
              <a:t>Healthy reference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66BC90-F616-4599-8384-71A9BD74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097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CB0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CB0C5"/>
                </a:solidFill>
                <a:latin typeface="Arial"/>
                <a:ea typeface="Arial"/>
                <a:cs typeface="Arial"/>
              </a:rPr>
              <a:t>Open TXN-1001 and show the complete four-stage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DCF1B-06C2-4507-82EB-C97A82C2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E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5E7FF"/>
                </a:solidFill>
                <a:latin typeface="Arial"/>
                <a:ea typeface="Arial"/>
                <a:cs typeface="Arial"/>
              </a:rPr>
              <a:t>00:20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8A18B-9F12-4155-A776-CCB6D3F3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3622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3F8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3F8FF"/>
                </a:solidFill>
                <a:latin typeface="Arial"/>
                <a:ea typeface="Arial"/>
                <a:cs typeface="Arial"/>
              </a:rPr>
              <a:t>First broken link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15AD3-1C98-4257-95A1-72BD1933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003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CB0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CB0C5"/>
                </a:solidFill>
                <a:latin typeface="Arial"/>
                <a:ea typeface="Arial"/>
                <a:cs typeface="Arial"/>
              </a:rPr>
              <a:t>Ask why TXN-1048 is pending and show the missing settlement plus SLA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51C376-7684-40E8-A4A0-83967C84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E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5E7FF"/>
                </a:solidFill>
                <a:latin typeface="Arial"/>
                <a:ea typeface="Arial"/>
                <a:cs typeface="Arial"/>
              </a:rPr>
              <a:t>00:50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6BEE29-919F-434D-9FAF-B9725C26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528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3F8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3F8FF"/>
                </a:solidFill>
                <a:latin typeface="Arial"/>
                <a:ea typeface="Arial"/>
                <a:cs typeface="Arial"/>
              </a:rPr>
              <a:t>Honest uncertainty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89CADE-46A7-416E-90B5-6F357497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909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CB0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CB0C5"/>
                </a:solidFill>
                <a:latin typeface="Arial"/>
                <a:ea typeface="Arial"/>
                <a:cs typeface="Arial"/>
              </a:rPr>
              <a:t>Open TXN-1097 and show the bank-versus-ledger conflict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A395F-57B6-4748-98A4-977AC755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0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E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5E7FF"/>
                </a:solidFill>
                <a:latin typeface="Arial"/>
                <a:ea typeface="Arial"/>
                <a:cs typeface="Arial"/>
              </a:rPr>
              <a:t>01:10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3A52FE-398D-4991-8AD9-A9714858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434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3F8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3F8FF"/>
                </a:solidFill>
                <a:latin typeface="Arial"/>
                <a:ea typeface="Arial"/>
                <a:cs typeface="Arial"/>
              </a:rPr>
              <a:t>Operational scale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D991B7-DE82-4855-865E-808CDED9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815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CB0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CB0C5"/>
                </a:solidFill>
                <a:latin typeface="Arial"/>
                <a:ea typeface="Arial"/>
                <a:cs typeface="Arial"/>
              </a:rPr>
              <a:t>Finish on the Operations view and download the report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E3768B-5D5D-40E2-9BC3-97568BB8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0758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0758A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0CC8CA-191C-445C-B748-6D9C6649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8645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5E7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5E7FF"/>
                </a:solidFill>
                <a:latin typeface="Arial"/>
                <a:ea typeface="Arial"/>
                <a:cs typeface="Arial"/>
              </a:rPr>
              <a:t>settlement-trace-ai.nikhilgurnani0524.chatgpt.site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A7E856-BFB0-408A-889D-07957FFA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81650"/>
            <a:ext cx="3943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F3F8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3F8FF"/>
                </a:solidFill>
                <a:latin typeface="Arial"/>
                <a:ea typeface="Arial"/>
                <a:cs typeface="Arial"/>
              </a:rPr>
              <a:t>Evidence shows where the payment stopped and what support should do next.</a:t>
            </a:r>
          </a:p>
        </p:txBody>
      </p:sp>
    </p:spTree>
    <p:extLst>
      <p:ext uri="{BB962C8B-B14F-4D97-AF65-F5344CB8AC3E}">
        <p14:creationId xmlns:p14="http://schemas.microsoft.com/office/powerpoint/2010/main" val="4472384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2026-09-04T17:10:00.9760000Z</dcterms:created>
  <dcterms:modified xsi:type="dcterms:W3CDTF">2026-09-04T17:10:00.9760000Z</dcterms:modified>
</coreProperties>
</file>